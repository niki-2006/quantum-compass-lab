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11430000"/>
  <p:notesSz cx="11430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A9307CD1-69F0-9ECC-D4DC-AE5A89E53188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9530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473825" y="0"/>
            <a:ext cx="49530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FD828D-B99D-0C42-8E7E-10F831DE129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1263" y="857250"/>
            <a:ext cx="13874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143000" y="3300413"/>
            <a:ext cx="91440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49530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73825" y="6513513"/>
            <a:ext cx="49530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5CAA9-0E87-594E-BA5F-6A6DB4EC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441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_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365760" y="137160"/>
            <a:ext cx="6126480" cy="1746400"/>
          </a:xfrm>
          <a:prstGeom prst="roundRect">
            <a:avLst>
              <a:gd name="adj" fmla="val 15152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3" name="LogoPill"/>
          <p:cNvSpPr/>
          <p:nvPr/>
        </p:nvSpPr>
        <p:spPr>
          <a:xfrm>
            <a:off x="502920" y="274320"/>
            <a:ext cx="228600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mage 0" descr="VTU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20040"/>
            <a:ext cx="365760" cy="365760"/>
          </a:xfrm>
          <a:prstGeom prst="rect">
            <a:avLst/>
          </a:prstGeom>
        </p:spPr>
      </p:pic>
      <p:pic>
        <p:nvPicPr>
          <p:cNvPr id="5" name="Image 1" descr="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20624"/>
            <a:ext cx="137160" cy="164592"/>
          </a:xfrm>
          <a:prstGeom prst="rect">
            <a:avLst/>
          </a:prstGeom>
        </p:spPr>
      </p:pic>
      <p:pic>
        <p:nvPicPr>
          <p:cNvPr id="6" name="Image 2" descr="IBM Quantum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18011"/>
            <a:ext cx="1188720" cy="169817"/>
          </a:xfrm>
          <a:prstGeom prst="rect">
            <a:avLst/>
          </a:prstGeom>
        </p:spPr>
      </p:pic>
      <p:sp>
        <p:nvSpPr>
          <p:cNvPr id="7" name="QucPill"/>
          <p:cNvSpPr/>
          <p:nvPr/>
        </p:nvSpPr>
        <p:spPr>
          <a:xfrm>
            <a:off x="5440680" y="228600"/>
            <a:ext cx="914400" cy="548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mage 3" descr="VTU Quantum Club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2257" y="301752"/>
            <a:ext cx="531245" cy="402336"/>
          </a:xfrm>
          <a:prstGeom prst="rect">
            <a:avLst/>
          </a:prstGeom>
        </p:spPr>
      </p:pic>
      <p:sp>
        <p:nvSpPr>
          <p:cNvPr id="9" name="PosterNoPill"/>
          <p:cNvSpPr/>
          <p:nvPr/>
        </p:nvSpPr>
        <p:spPr>
          <a:xfrm>
            <a:off x="3794760" y="365760"/>
            <a:ext cx="146304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osterNo"/>
          <p:cNvSpPr txBox="1"/>
          <p:nvPr/>
        </p:nvSpPr>
        <p:spPr>
          <a:xfrm>
            <a:off x="3794760" y="365760"/>
            <a:ext cx="1463040" cy="27432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marL="0" indent="0" algn="ctr">
              <a:spcAft>
                <a:spcPts val="150"/>
              </a:spcAft>
              <a:buNone/>
            </a:pPr>
            <a:r>
              <a:rPr sz="700" b="1">
                <a:solidFill>
                  <a:srgbClr val="282837"/>
                </a:solidFill>
                <a:latin typeface="Aptos"/>
              </a:rPr>
              <a:t>Poster no: [VTU-assigned number]</a:t>
            </a:r>
            <a:endParaRPr lang="en-US" sz="900" dirty="0"/>
          </a:p>
        </p:txBody>
      </p:sp>
      <p:sp>
        <p:nvSpPr>
          <p:cNvPr id="11" name="Eyebrow"/>
          <p:cNvSpPr txBox="1"/>
          <p:nvPr/>
        </p:nvSpPr>
        <p:spPr>
          <a:xfrm>
            <a:off x="502920" y="86868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VTU HOSTS  ·  IBM QUANTUM PRESENTS</a:t>
            </a:r>
            <a:endParaRPr lang="en-US" sz="750" dirty="0"/>
          </a:p>
        </p:txBody>
      </p:sp>
      <p:sp>
        <p:nvSpPr>
          <p:cNvPr id="12" name="Title"/>
          <p:cNvSpPr txBox="1"/>
          <p:nvPr/>
        </p:nvSpPr>
        <p:spPr>
          <a:xfrm>
            <a:off x="502920" y="1010000"/>
            <a:ext cx="5852160" cy="48000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marL="0" indent="0">
              <a:spcAft>
                <a:spcPts val="150"/>
              </a:spcAft>
              <a:buNone/>
            </a:pPr>
            <a:r>
              <a:rPr sz="1400" b="1">
                <a:solidFill>
                  <a:srgbClr val="36204A"/>
                </a:solidFill>
                <a:latin typeface="Aptos"/>
              </a:rPr>
              <a:t>Quantum Compass Lab: Can a Spin Compass Survive Noise?</a:t>
            </a:r>
          </a:p>
        </p:txBody>
      </p:sp>
      <p:sp>
        <p:nvSpPr>
          <p:cNvPr id="13" name="Presenter"/>
          <p:cNvSpPr txBox="1"/>
          <p:nvPr/>
        </p:nvSpPr>
        <p:spPr>
          <a:xfrm>
            <a:off x="502920" y="1495000"/>
            <a:ext cx="5852160" cy="16000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marL="0" indent="0">
              <a:spcAft>
                <a:spcPts val="150"/>
              </a:spcAft>
              <a:buNone/>
            </a:pPr>
            <a:r>
              <a:rPr sz="610" b="0">
                <a:solidFill>
                  <a:srgbClr val="282837"/>
                </a:solidFill>
                <a:latin typeface="Aptos"/>
              </a:rPr>
              <a:t>Simulating radical-pair magnetoreception under decoherence in Qiskit  |  Nikitha H. D.  |  hdnikitha282006@gmail.com</a:t>
            </a:r>
          </a:p>
        </p:txBody>
      </p:sp>
      <p:sp>
        <p:nvSpPr>
          <p:cNvPr id="14" name="FooterBg"/>
          <p:cNvSpPr/>
          <p:nvPr/>
        </p:nvSpPr>
        <p:spPr>
          <a:xfrm>
            <a:off x="365760" y="10972800"/>
            <a:ext cx="6126480" cy="34747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5" name="FooterLeft"/>
          <p:cNvSpPr txBox="1"/>
          <p:nvPr/>
        </p:nvSpPr>
        <p:spPr>
          <a:xfrm>
            <a:off x="594360" y="10972800"/>
            <a:ext cx="2743200" cy="34747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640" b="1">
                <a:solidFill>
                  <a:srgbClr val="FFFFFF"/>
                </a:solidFill>
                <a:latin typeface="Aptos"/>
              </a:rPr>
              <a:t>Visvesvaraya Technological University</a:t>
            </a:r>
            <a:endParaRPr lang="en-US" sz="900" dirty="0"/>
          </a:p>
        </p:txBody>
      </p:sp>
      <p:sp>
        <p:nvSpPr>
          <p:cNvPr id="16" name="FooterMid"/>
          <p:cNvSpPr txBox="1"/>
          <p:nvPr/>
        </p:nvSpPr>
        <p:spPr>
          <a:xfrm>
            <a:off x="2651760" y="10972800"/>
            <a:ext cx="1554480" cy="34747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sz="640" b="1">
                <a:solidFill>
                  <a:srgbClr val="FFD75A"/>
                </a:solidFill>
                <a:latin typeface="Aptos"/>
              </a:rPr>
              <a:t>Qiskit Fall Fest 2026</a:t>
            </a:r>
            <a:endParaRPr lang="en-US" sz="900" dirty="0"/>
          </a:p>
        </p:txBody>
      </p:sp>
      <p:sp>
        <p:nvSpPr>
          <p:cNvPr id="17" name="FooterRight"/>
          <p:cNvSpPr txBox="1"/>
          <p:nvPr/>
        </p:nvSpPr>
        <p:spPr>
          <a:xfrm>
            <a:off x="4709160" y="10972800"/>
            <a:ext cx="1645920" cy="34747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marL="0" indent="0" algn="r">
              <a:spcAft>
                <a:spcPts val="200"/>
              </a:spcAft>
              <a:buNone/>
            </a:pPr>
            <a:r>
              <a:rPr sz="640" b="0">
                <a:solidFill>
                  <a:srgbClr val="FFFFFF"/>
                </a:solidFill>
                <a:latin typeface="Aptos"/>
              </a:rPr>
              <a:t>Poster Presentation</a:t>
            </a:r>
            <a:endParaRPr lang="en-US" sz="900" dirty="0"/>
          </a:p>
        </p:txBody>
      </p:sp>
      <p:sp>
        <p:nvSpPr>
          <p:cNvPr id="18" name="IntroCard"/>
          <p:cNvSpPr/>
          <p:nvPr/>
        </p:nvSpPr>
        <p:spPr>
          <a:xfrm>
            <a:off x="365760" y="1975000"/>
            <a:ext cx="6126480" cy="9330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9" name="IntroChip"/>
          <p:cNvSpPr/>
          <p:nvPr/>
        </p:nvSpPr>
        <p:spPr>
          <a:xfrm>
            <a:off x="457200" y="2066440"/>
            <a:ext cx="5943600" cy="2468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IntroHeading"/>
          <p:cNvSpPr txBox="1"/>
          <p:nvPr/>
        </p:nvSpPr>
        <p:spPr>
          <a:xfrm>
            <a:off x="594360" y="2066440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950" dirty="0"/>
          </a:p>
        </p:txBody>
      </p:sp>
      <p:sp>
        <p:nvSpPr>
          <p:cNvPr id="21" name="IntroBody"/>
          <p:cNvSpPr txBox="1"/>
          <p:nvPr/>
        </p:nvSpPr>
        <p:spPr>
          <a:xfrm>
            <a:off x="530352" y="2404768"/>
            <a:ext cx="5797296" cy="45751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marL="0" indent="0">
              <a:spcAft>
                <a:spcPts val="150"/>
              </a:spcAft>
              <a:buNone/>
            </a:pPr>
            <a:r>
              <a:rPr sz="660" b="0">
                <a:solidFill>
                  <a:srgbClr val="282837"/>
                </a:solidFill>
                <a:latin typeface="Aptos"/>
              </a:rPr>
              <a:t>Background: Migratory birds may sense Earth's magnetic field through light-triggered electron-spin pairs in cryptochrome proteins.</a:t>
            </a:r>
          </a:p>
          <a:p>
            <a:pPr marL="0" indent="0">
              <a:spcAft>
                <a:spcPts val="150"/>
              </a:spcAft>
              <a:buNone/>
            </a:pPr>
            <a:r>
              <a:rPr sz="660" b="0">
                <a:solidFill>
                  <a:srgbClr val="282837"/>
                </a:solidFill>
                <a:latin typeface="Aptos"/>
              </a:rPr>
              <a:t>Problem: Does field direction change chemical yield, and how much of that signal survives decoherence?</a:t>
            </a:r>
          </a:p>
          <a:p>
            <a:pPr marL="0" indent="0">
              <a:spcAft>
                <a:spcPts val="150"/>
              </a:spcAft>
              <a:buNone/>
            </a:pPr>
            <a:r>
              <a:rPr sz="660" b="0">
                <a:solidFill>
                  <a:srgbClr val="282837"/>
                </a:solidFill>
                <a:latin typeface="Aptos"/>
              </a:rPr>
              <a:t>Objective: Build a three-spin open-system model, measure its directional signal over a 91-point angle sweep and a decoherence sweep, and cross-check it with Qiskit.</a:t>
            </a:r>
          </a:p>
        </p:txBody>
      </p:sp>
      <p:sp>
        <p:nvSpPr>
          <p:cNvPr id="22" name="GapCard"/>
          <p:cNvSpPr/>
          <p:nvPr/>
        </p:nvSpPr>
        <p:spPr>
          <a:xfrm>
            <a:off x="365760" y="3000000"/>
            <a:ext cx="3017520" cy="10400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3" name="GapChip"/>
          <p:cNvSpPr/>
          <p:nvPr/>
        </p:nvSpPr>
        <p:spPr>
          <a:xfrm>
            <a:off x="457200" y="3091440"/>
            <a:ext cx="2834640" cy="2468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4" name="GapHeading"/>
          <p:cNvSpPr txBox="1"/>
          <p:nvPr/>
        </p:nvSpPr>
        <p:spPr>
          <a:xfrm>
            <a:off x="594360" y="3091440"/>
            <a:ext cx="2560320" cy="24688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sz="800" b="1">
                <a:solidFill>
                  <a:srgbClr val="282837"/>
                </a:solidFill>
                <a:latin typeface="Aptos"/>
              </a:rPr>
              <a:t>Research Gap / Challenges</a:t>
            </a:r>
            <a:endParaRPr lang="en-US" sz="950" dirty="0"/>
          </a:p>
        </p:txBody>
      </p:sp>
      <p:sp>
        <p:nvSpPr>
          <p:cNvPr id="25" name="GapBody"/>
          <p:cNvSpPr txBox="1"/>
          <p:nvPr/>
        </p:nvSpPr>
        <p:spPr>
          <a:xfrm>
            <a:off x="530352" y="3429768"/>
            <a:ext cx="2688336" cy="56451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sz="640" b="0">
                <a:solidFill>
                  <a:srgbClr val="282837"/>
                </a:solidFill>
                <a:latin typeface="Aptos"/>
              </a:rPr>
              <a:t>• Two-spin models miss the nucleus that gives direction.</a:t>
            </a:r>
          </a:p>
          <a:p>
            <a:pPr marL="0" indent="0">
              <a:spcAft>
                <a:spcPts val="100"/>
              </a:spcAft>
              <a:buNone/>
            </a:pPr>
            <a:r>
              <a:rPr sz="640" b="0">
                <a:solidFill>
                  <a:srgbClr val="282837"/>
                </a:solidFill>
                <a:latin typeface="Aptos"/>
              </a:rPr>
              <a:t>• Noise can wipe out the signal before it is used.</a:t>
            </a:r>
          </a:p>
          <a:p>
            <a:pPr marL="0" indent="0">
              <a:spcAft>
                <a:spcPts val="100"/>
              </a:spcAft>
              <a:buNone/>
            </a:pPr>
            <a:r>
              <a:rPr sz="640" b="0">
                <a:solidFill>
                  <a:srgbClr val="282837"/>
                </a:solidFill>
                <a:latin typeface="Aptos"/>
              </a:rPr>
              <a:t>• One numerical method is not proof; cross-check it.</a:t>
            </a:r>
          </a:p>
          <a:p>
            <a:pPr marL="0" indent="0">
              <a:spcAft>
                <a:spcPts val="100"/>
              </a:spcAft>
              <a:buNone/>
            </a:pPr>
            <a:r>
              <a:rPr sz="640" b="0">
                <a:solidFill>
                  <a:srgbClr val="282837"/>
                </a:solidFill>
                <a:latin typeface="Aptos"/>
              </a:rPr>
              <a:t>• A simulation cannot prove what birds actually do.</a:t>
            </a:r>
          </a:p>
        </p:txBody>
      </p:sp>
      <p:sp>
        <p:nvSpPr>
          <p:cNvPr id="26" name="ArchCard"/>
          <p:cNvSpPr/>
          <p:nvPr/>
        </p:nvSpPr>
        <p:spPr>
          <a:xfrm>
            <a:off x="365760" y="4131440"/>
            <a:ext cx="3017520" cy="120000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7" name="ArchChip"/>
          <p:cNvSpPr/>
          <p:nvPr/>
        </p:nvSpPr>
        <p:spPr>
          <a:xfrm>
            <a:off x="457200" y="4222880"/>
            <a:ext cx="2834640" cy="24688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8" name="ArchHeading"/>
          <p:cNvSpPr txBox="1"/>
          <p:nvPr/>
        </p:nvSpPr>
        <p:spPr>
          <a:xfrm>
            <a:off x="594360" y="4222880"/>
            <a:ext cx="2560320" cy="24688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sz="800" b="1">
                <a:solidFill>
                  <a:srgbClr val="282837"/>
                </a:solidFill>
                <a:latin typeface="Aptos"/>
              </a:rPr>
              <a:t>System Architecture / Implementation</a:t>
            </a:r>
            <a:endParaRPr lang="en-US" sz="950" dirty="0"/>
          </a:p>
        </p:txBody>
      </p:sp>
      <p:sp>
        <p:nvSpPr>
          <p:cNvPr id="29" name="ArchBody"/>
          <p:cNvSpPr txBox="1"/>
          <p:nvPr/>
        </p:nvSpPr>
        <p:spPr>
          <a:xfrm>
            <a:off x="530352" y="4561208"/>
            <a:ext cx="2688336" cy="72451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sz="630" b="0">
                <a:solidFill>
                  <a:srgbClr val="282837"/>
                </a:solidFill>
                <a:latin typeface="Aptos"/>
              </a:rPr>
              <a:t>1. Three spin-½ particles (2 electrons + 1 nucleus) give 8 states.</a:t>
            </a:r>
          </a:p>
          <a:p>
            <a:pPr marL="0" indent="0">
              <a:spcAft>
                <a:spcPts val="100"/>
              </a:spcAft>
              <a:buNone/>
            </a:pPr>
            <a:r>
              <a:rPr sz="630" b="0">
                <a:solidFill>
                  <a:srgbClr val="282837"/>
                </a:solidFill>
                <a:latin typeface="Aptos"/>
              </a:rPr>
              <a:t>2. Hamiltonian = electron Zeeman + anisotropic hyperfine.</a:t>
            </a:r>
          </a:p>
          <a:p>
            <a:pPr marL="0" indent="0">
              <a:spcAft>
                <a:spcPts val="100"/>
              </a:spcAft>
              <a:buNone/>
            </a:pPr>
            <a:r>
              <a:rPr sz="630" b="0">
                <a:solidFill>
                  <a:srgbClr val="282837"/>
                </a:solidFill>
                <a:latin typeface="Aptos"/>
              </a:rPr>
              <a:t>3. Python, NumPy and SciPy solve the dynamics; Qiskit builds the Hamiltonian and Trotter circuits.</a:t>
            </a:r>
          </a:p>
          <a:p>
            <a:pPr marL="0" indent="0">
              <a:spcAft>
                <a:spcPts val="100"/>
              </a:spcAft>
              <a:buNone/>
            </a:pPr>
            <a:r>
              <a:rPr sz="630" b="0">
                <a:solidFill>
                  <a:srgbClr val="282837"/>
                </a:solidFill>
                <a:latin typeface="Aptos"/>
              </a:rPr>
              <a:t>4. Exact and Trotter results are compared; a Streamlit dashboard explores parameters.</a:t>
            </a:r>
          </a:p>
        </p:txBody>
      </p:sp>
      <p:sp>
        <p:nvSpPr>
          <p:cNvPr id="30" name="TheoryCard"/>
          <p:cNvSpPr/>
          <p:nvPr/>
        </p:nvSpPr>
        <p:spPr>
          <a:xfrm>
            <a:off x="365760" y="5422880"/>
            <a:ext cx="3017520" cy="167000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31" name="TheoryChip"/>
          <p:cNvSpPr/>
          <p:nvPr/>
        </p:nvSpPr>
        <p:spPr>
          <a:xfrm>
            <a:off x="457200" y="5514320"/>
            <a:ext cx="2834640" cy="24688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2" name="TheoryHeading"/>
          <p:cNvSpPr txBox="1"/>
          <p:nvPr/>
        </p:nvSpPr>
        <p:spPr>
          <a:xfrm>
            <a:off x="594360" y="5514320"/>
            <a:ext cx="2560320" cy="24688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sz="800" b="1">
                <a:solidFill>
                  <a:srgbClr val="282837"/>
                </a:solidFill>
                <a:latin typeface="Aptos"/>
              </a:rPr>
              <a:t>Theoretical Model / Algorithm</a:t>
            </a:r>
            <a:endParaRPr lang="en-US" sz="950" dirty="0"/>
          </a:p>
        </p:txBody>
      </p:sp>
      <p:sp>
        <p:nvSpPr>
          <p:cNvPr id="33" name="TheoryBody"/>
          <p:cNvSpPr txBox="1"/>
          <p:nvPr/>
        </p:nvSpPr>
        <p:spPr>
          <a:xfrm>
            <a:off x="530352" y="5852648"/>
            <a:ext cx="2688336" cy="119451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sz="610" b="0">
                <a:solidFill>
                  <a:srgbClr val="282837"/>
                </a:solidFill>
                <a:latin typeface="Aptos"/>
              </a:rPr>
              <a:t>Initial state: ρ(0) = |S⟩⟨S| ⊗ I₂/2</a:t>
            </a:r>
          </a:p>
          <a:p>
            <a:pPr marL="0" indent="0">
              <a:spcAft>
                <a:spcPts val="250"/>
              </a:spcAft>
              <a:buNone/>
            </a:pPr>
            <a:r>
              <a:rPr sz="610" b="0">
                <a:solidFill>
                  <a:srgbClr val="282837"/>
                </a:solidFill>
                <a:latin typeface="Aptos"/>
              </a:rPr>
              <a:t>Open-system evolution: dρ/dt = −i[H,ρ] − (kS/2){PS,ρ} − (kT/2){PT,ρ} + Ldecoh(ρ)</a:t>
            </a:r>
          </a:p>
          <a:p>
            <a:pPr marL="0" indent="0">
              <a:spcAft>
                <a:spcPts val="250"/>
              </a:spcAft>
              <a:buNone/>
            </a:pPr>
            <a:r>
              <a:rPr sz="610" b="0">
                <a:solidFill>
                  <a:srgbClr val="282837"/>
                </a:solidFill>
                <a:latin typeface="Aptos"/>
              </a:rPr>
              <a:t>Singlet yield: ΦS = kS ∫ Tr[PSρ(t)] dt</a:t>
            </a:r>
          </a:p>
          <a:p>
            <a:pPr marL="0" indent="0">
              <a:spcAft>
                <a:spcPts val="250"/>
              </a:spcAft>
              <a:buNone/>
            </a:pPr>
            <a:r>
              <a:rPr sz="610" b="0">
                <a:solidFill>
                  <a:srgbClr val="282837"/>
                </a:solidFill>
                <a:latin typeface="Aptos"/>
              </a:rPr>
              <a:t>Contrast: C = (ΦS,max − ΦS,min) / (ΦS,max + ΦS,min)</a:t>
            </a:r>
          </a:p>
          <a:p>
            <a:pPr marL="0" indent="0">
              <a:spcAft>
                <a:spcPts val="250"/>
              </a:spcAft>
              <a:buNone/>
            </a:pPr>
            <a:r>
              <a:rPr sz="610" b="0">
                <a:solidFill>
                  <a:srgbClr val="282837"/>
                </a:solidFill>
                <a:latin typeface="Aptos"/>
              </a:rPr>
              <a:t>Yield is solved by exact Liouvillian inversion and checked against numerical integration.</a:t>
            </a:r>
          </a:p>
          <a:p>
            <a:pPr marL="0" indent="0">
              <a:spcAft>
                <a:spcPts val="250"/>
              </a:spcAft>
              <a:buNone/>
            </a:pPr>
            <a:r>
              <a:rPr sz="610" b="1">
                <a:solidFill>
                  <a:srgbClr val="282837"/>
                </a:solidFill>
                <a:latin typeface="Aptos"/>
              </a:rPr>
              <a:t>Parameters: B = 50 µT; A = (5, 5, 20) rad/µs (isotropic control: 10, 10, 10); kS = kT = 1 µs⁻¹; γ = 1/T₂ = 0 baseline, swept 0.05 to 31.6 µs⁻¹.</a:t>
            </a:r>
          </a:p>
        </p:txBody>
      </p:sp>
      <p:sp>
        <p:nvSpPr>
          <p:cNvPr id="34" name="ResultsCard"/>
          <p:cNvSpPr/>
          <p:nvPr/>
        </p:nvSpPr>
        <p:spPr>
          <a:xfrm>
            <a:off x="365760" y="7184320"/>
            <a:ext cx="3017520" cy="369704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35" name="ResultsChip"/>
          <p:cNvSpPr/>
          <p:nvPr/>
        </p:nvSpPr>
        <p:spPr>
          <a:xfrm>
            <a:off x="457200" y="7275760"/>
            <a:ext cx="2834640" cy="2468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6" name="ResultsHeading"/>
          <p:cNvSpPr txBox="1"/>
          <p:nvPr/>
        </p:nvSpPr>
        <p:spPr>
          <a:xfrm>
            <a:off x="594360" y="7275760"/>
            <a:ext cx="2560320" cy="24688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sz="800" b="1">
                <a:solidFill>
                  <a:srgbClr val="282837"/>
                </a:solidFill>
                <a:latin typeface="Aptos"/>
              </a:rPr>
              <a:t>Experimental / Simulation Results</a:t>
            </a:r>
            <a:endParaRPr lang="en-US" sz="950" dirty="0"/>
          </a:p>
        </p:txBody>
      </p:sp>
      <p:sp>
        <p:nvSpPr>
          <p:cNvPr id="37" name="ResultsFigure"/>
          <p:cNvSpPr/>
          <p:nvPr/>
        </p:nvSpPr>
        <p:spPr>
          <a:xfrm>
            <a:off x="530352" y="7614088"/>
            <a:ext cx="2688336" cy="1640000"/>
          </a:xfrm>
          <a:prstGeom prst="roundRect">
            <a:avLst>
              <a:gd name="adj" fmla="val 329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38" name="ResultsHint"/>
          <p:cNvSpPr txBox="1"/>
          <p:nvPr/>
        </p:nvSpPr>
        <p:spPr>
          <a:xfrm>
            <a:off x="530352" y="7614088"/>
            <a:ext cx="2688336" cy="164000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marL="0" indent="0" algn="ctr">
              <a:spcAft>
                <a:spcPts val="200"/>
              </a:spcAft>
              <a:buNone/>
            </a:pPr>
            <a:endParaRPr lang="en-US" sz="850" dirty="0"/>
          </a:p>
        </p:txBody>
      </p:sp>
      <p:sp>
        <p:nvSpPr>
          <p:cNvPr id="39" name="ResultsCaption"/>
          <p:cNvSpPr txBox="1"/>
          <p:nvPr/>
        </p:nvSpPr>
        <p:spPr>
          <a:xfrm>
            <a:off x="530352" y="9269088"/>
            <a:ext cx="2688336" cy="29000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marL="0" indent="0">
              <a:spcAft>
                <a:spcPts val="150"/>
              </a:spcAft>
              <a:buNone/>
            </a:pPr>
            <a:r>
              <a:rPr sz="580" b="0">
                <a:solidFill>
                  <a:srgbClr val="282837"/>
                </a:solidFill>
                <a:latin typeface="Aptos"/>
              </a:rPr>
              <a:t>Singlet yield vs. field angle (91-point sweep, B = 50 µT). Max ΦS = 0.4872 at 0°; min ΦS = 0.3726 at 32°; C ≈ 13.3%. Dashed line: isotropic control, ΦS = 0.4595 at every angle (C = 0%).</a:t>
            </a:r>
          </a:p>
        </p:txBody>
      </p:sp>
      <p:sp>
        <p:nvSpPr>
          <p:cNvPr id="40" name="MethodCard"/>
          <p:cNvSpPr/>
          <p:nvPr/>
        </p:nvSpPr>
        <p:spPr>
          <a:xfrm>
            <a:off x="3474720" y="3000000"/>
            <a:ext cx="3017520" cy="16000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41" name="MethodChip"/>
          <p:cNvSpPr/>
          <p:nvPr/>
        </p:nvSpPr>
        <p:spPr>
          <a:xfrm>
            <a:off x="3566160" y="3091440"/>
            <a:ext cx="2834640" cy="24688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2" name="MethodHeading"/>
          <p:cNvSpPr txBox="1"/>
          <p:nvPr/>
        </p:nvSpPr>
        <p:spPr>
          <a:xfrm>
            <a:off x="3703320" y="3091440"/>
            <a:ext cx="2560320" cy="24688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sz="800" b="1">
                <a:solidFill>
                  <a:srgbClr val="282837"/>
                </a:solidFill>
                <a:latin typeface="Aptos"/>
              </a:rPr>
              <a:t>Proposed Methodology / Framework</a:t>
            </a:r>
            <a:endParaRPr lang="en-US" sz="950" dirty="0"/>
          </a:p>
        </p:txBody>
      </p:sp>
      <p:sp>
        <p:nvSpPr>
          <p:cNvPr id="43" name="MethodBody"/>
          <p:cNvSpPr txBox="1"/>
          <p:nvPr/>
        </p:nvSpPr>
        <p:spPr>
          <a:xfrm>
            <a:off x="3639312" y="3429768"/>
            <a:ext cx="2688336" cy="112451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sz="650" b="0">
                <a:solidFill>
                  <a:srgbClr val="282837"/>
                </a:solidFill>
                <a:latin typeface="Aptos"/>
              </a:rPr>
              <a:t>1. Prepare an electron singlet pair and a mixed nuclear state.</a:t>
            </a:r>
          </a:p>
          <a:p>
            <a:pPr marL="0" indent="0">
              <a:spcAft>
                <a:spcPts val="200"/>
              </a:spcAft>
              <a:buNone/>
            </a:pPr>
            <a:r>
              <a:rPr sz="650" b="0">
                <a:solidFill>
                  <a:srgbClr val="282837"/>
                </a:solidFill>
                <a:latin typeface="Aptos"/>
              </a:rPr>
              <a:t>2. Build the 8 × 8 Hamiltonian (Zeeman + anisotropic hyperfine) with reaction and noise terms.</a:t>
            </a:r>
          </a:p>
          <a:p>
            <a:pPr marL="0" indent="0">
              <a:spcAft>
                <a:spcPts val="200"/>
              </a:spcAft>
              <a:buNone/>
            </a:pPr>
            <a:r>
              <a:rPr sz="650" b="0">
                <a:solidFill>
                  <a:srgbClr val="282837"/>
                </a:solidFill>
                <a:latin typeface="Aptos"/>
              </a:rPr>
              <a:t>3. Sweep field angle (0° to 180°, 91 points) and decoherence rate γ; compute yields by exact Liouvillian inversion.</a:t>
            </a:r>
          </a:p>
          <a:p>
            <a:pPr marL="0" indent="0">
              <a:spcAft>
                <a:spcPts val="200"/>
              </a:spcAft>
              <a:buNone/>
            </a:pPr>
            <a:r>
              <a:rPr sz="650" b="0">
                <a:solidFill>
                  <a:srgbClr val="282837"/>
                </a:solidFill>
                <a:latin typeface="Aptos"/>
              </a:rPr>
              <a:t>4. Test density-matrix physicality, yield conservation, convergence and Qiskit Trotter agreement (82 automated tests).</a:t>
            </a:r>
          </a:p>
        </p:txBody>
      </p:sp>
      <p:sp>
        <p:nvSpPr>
          <p:cNvPr id="44" name="AppsCard"/>
          <p:cNvSpPr/>
          <p:nvPr/>
        </p:nvSpPr>
        <p:spPr>
          <a:xfrm>
            <a:off x="3474720" y="4691440"/>
            <a:ext cx="3017520" cy="125000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45" name="AppsChip"/>
          <p:cNvSpPr/>
          <p:nvPr/>
        </p:nvSpPr>
        <p:spPr>
          <a:xfrm>
            <a:off x="3566160" y="4782880"/>
            <a:ext cx="2834640" cy="24688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6" name="AppsHeading"/>
          <p:cNvSpPr txBox="1"/>
          <p:nvPr/>
        </p:nvSpPr>
        <p:spPr>
          <a:xfrm>
            <a:off x="3703320" y="4782880"/>
            <a:ext cx="2560320" cy="24688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sz="800" b="1">
                <a:solidFill>
                  <a:srgbClr val="282837"/>
                </a:solidFill>
                <a:latin typeface="Aptos"/>
              </a:rPr>
              <a:t>Applications / Use Cases</a:t>
            </a:r>
            <a:endParaRPr lang="en-US" sz="950" dirty="0"/>
          </a:p>
        </p:txBody>
      </p:sp>
      <p:sp>
        <p:nvSpPr>
          <p:cNvPr id="47" name="AppsBody"/>
          <p:cNvSpPr txBox="1"/>
          <p:nvPr/>
        </p:nvSpPr>
        <p:spPr>
          <a:xfrm>
            <a:off x="3639312" y="5121208"/>
            <a:ext cx="2688336" cy="77451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marL="0" indent="0">
              <a:spcAft>
                <a:spcPts val="150"/>
              </a:spcAft>
              <a:buNone/>
            </a:pPr>
            <a:r>
              <a:rPr sz="640" b="0">
                <a:solidFill>
                  <a:srgbClr val="282837"/>
                </a:solidFill>
                <a:latin typeface="Aptos"/>
              </a:rPr>
              <a:t>• Shows how anisotropic coupling turns field direction into a chemical signal.</a:t>
            </a:r>
          </a:p>
          <a:p>
            <a:pPr marL="0" indent="0">
              <a:spcAft>
                <a:spcPts val="150"/>
              </a:spcAft>
              <a:buNone/>
            </a:pPr>
            <a:r>
              <a:rPr sz="640" b="0">
                <a:solidFill>
                  <a:srgbClr val="282837"/>
                </a:solidFill>
                <a:latin typeface="Aptos"/>
              </a:rPr>
              <a:t>• Maps how coherence time (T₂) and reaction rates tune that signal.</a:t>
            </a:r>
          </a:p>
          <a:p>
            <a:pPr marL="0" indent="0">
              <a:spcAft>
                <a:spcPts val="150"/>
              </a:spcAft>
              <a:buNone/>
            </a:pPr>
            <a:r>
              <a:rPr sz="640" b="0">
                <a:solidFill>
                  <a:srgbClr val="282837"/>
                </a:solidFill>
                <a:latin typeface="Aptos"/>
              </a:rPr>
              <a:t>• Provides a reusable workflow for validating open quantum-system simulations.</a:t>
            </a:r>
          </a:p>
          <a:p>
            <a:pPr marL="0" indent="0">
              <a:spcAft>
                <a:spcPts val="150"/>
              </a:spcAft>
              <a:buNone/>
            </a:pPr>
            <a:r>
              <a:rPr sz="640" b="0">
                <a:solidFill>
                  <a:srgbClr val="282837"/>
                </a:solidFill>
                <a:latin typeface="Aptos"/>
              </a:rPr>
              <a:t>• Theoretical work only; not proof of animal navigation.</a:t>
            </a:r>
          </a:p>
        </p:txBody>
      </p:sp>
      <p:sp>
        <p:nvSpPr>
          <p:cNvPr id="48" name="ConclCard"/>
          <p:cNvSpPr/>
          <p:nvPr/>
        </p:nvSpPr>
        <p:spPr>
          <a:xfrm>
            <a:off x="3474720" y="6032880"/>
            <a:ext cx="3017520" cy="1650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49" name="ConclChip"/>
          <p:cNvSpPr/>
          <p:nvPr/>
        </p:nvSpPr>
        <p:spPr>
          <a:xfrm>
            <a:off x="3566160" y="6124320"/>
            <a:ext cx="2834640" cy="2468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0" name="ConclHeading"/>
          <p:cNvSpPr txBox="1"/>
          <p:nvPr/>
        </p:nvSpPr>
        <p:spPr>
          <a:xfrm>
            <a:off x="3703320" y="6124320"/>
            <a:ext cx="2560320" cy="24688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sz="800" b="1">
                <a:solidFill>
                  <a:srgbClr val="282837"/>
                </a:solidFill>
                <a:latin typeface="Aptos"/>
              </a:rPr>
              <a:t>Conclusion &amp; Key Contributions</a:t>
            </a:r>
            <a:endParaRPr lang="en-US" sz="950" dirty="0"/>
          </a:p>
        </p:txBody>
      </p:sp>
      <p:sp>
        <p:nvSpPr>
          <p:cNvPr id="51" name="ConclBody"/>
          <p:cNvSpPr txBox="1"/>
          <p:nvPr/>
        </p:nvSpPr>
        <p:spPr>
          <a:xfrm>
            <a:off x="3639312" y="6462648"/>
            <a:ext cx="2688336" cy="117451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marL="0" indent="0">
              <a:spcAft>
                <a:spcPts val="150"/>
              </a:spcAft>
              <a:buNone/>
            </a:pPr>
            <a:r>
              <a:rPr sz="630" b="0">
                <a:solidFill>
                  <a:srgbClr val="282837"/>
                </a:solidFill>
                <a:latin typeface="Aptos"/>
              </a:rPr>
              <a:t>1. Field direction shifts singlet yield from 0.4872 to 0.3726: a 13.3% directional contrast.</a:t>
            </a:r>
          </a:p>
          <a:p>
            <a:pPr marL="0" indent="0">
              <a:spcAft>
                <a:spcPts val="150"/>
              </a:spcAft>
              <a:buNone/>
            </a:pPr>
            <a:r>
              <a:rPr sz="630" b="0">
                <a:solidFill>
                  <a:srgbClr val="282837"/>
                </a:solidFill>
                <a:latin typeface="Aptos"/>
              </a:rPr>
              <a:t>2. Control test: isotropic coupling gives 0% contrast, so anisotropy creates the compass.</a:t>
            </a:r>
          </a:p>
          <a:p>
            <a:pPr marL="0" indent="0">
              <a:spcAft>
                <a:spcPts val="150"/>
              </a:spcAft>
              <a:buNone/>
            </a:pPr>
            <a:r>
              <a:rPr sz="630" b="0">
                <a:solidFill>
                  <a:srgbClr val="282837"/>
                </a:solidFill>
                <a:latin typeface="Aptos"/>
              </a:rPr>
              <a:t>3. The compass needs γ ≤ 2.74 µs⁻¹ (T₂ ≥ 0.36 µs) to keep contrast above 1%.</a:t>
            </a:r>
          </a:p>
          <a:p>
            <a:pPr marL="0" indent="0">
              <a:spcAft>
                <a:spcPts val="150"/>
              </a:spcAft>
              <a:buNone/>
            </a:pPr>
            <a:r>
              <a:rPr sz="630" b="0">
                <a:solidFill>
                  <a:srgbClr val="282837"/>
                </a:solidFill>
                <a:latin typeface="Aptos"/>
              </a:rPr>
              <a:t>4. Qiskit Trotter circuit (r = 25) matches exact evolution to 1.8 × 10⁻³ (0.22%) in PS at t = 0.5 µs; positivity and yield-conservation checks pass.</a:t>
            </a:r>
          </a:p>
        </p:txBody>
      </p:sp>
      <p:sp>
        <p:nvSpPr>
          <p:cNvPr id="52" name="FutureCard"/>
          <p:cNvSpPr/>
          <p:nvPr/>
        </p:nvSpPr>
        <p:spPr>
          <a:xfrm>
            <a:off x="3474720" y="7774320"/>
            <a:ext cx="3017520" cy="9800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53" name="FutureChip"/>
          <p:cNvSpPr/>
          <p:nvPr/>
        </p:nvSpPr>
        <p:spPr>
          <a:xfrm>
            <a:off x="3566160" y="7865760"/>
            <a:ext cx="2834640" cy="24688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54" name="FutureHeading"/>
          <p:cNvSpPr txBox="1"/>
          <p:nvPr/>
        </p:nvSpPr>
        <p:spPr>
          <a:xfrm>
            <a:off x="3703320" y="7865760"/>
            <a:ext cx="2560320" cy="24688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sz="800" b="1">
                <a:solidFill>
                  <a:srgbClr val="282837"/>
                </a:solidFill>
                <a:latin typeface="Aptos"/>
              </a:rPr>
              <a:t>Future Work</a:t>
            </a:r>
            <a:endParaRPr lang="en-US" sz="950" dirty="0"/>
          </a:p>
        </p:txBody>
      </p:sp>
      <p:sp>
        <p:nvSpPr>
          <p:cNvPr id="55" name="FutureBody"/>
          <p:cNvSpPr txBox="1"/>
          <p:nvPr/>
        </p:nvSpPr>
        <p:spPr>
          <a:xfrm>
            <a:off x="3639312" y="8204088"/>
            <a:ext cx="2688336" cy="50451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marL="0" indent="0">
              <a:spcAft>
                <a:spcPts val="150"/>
              </a:spcAft>
              <a:buNone/>
            </a:pPr>
            <a:r>
              <a:rPr sz="640" b="0">
                <a:solidFill>
                  <a:srgbClr val="282837"/>
                </a:solidFill>
                <a:latin typeface="Aptos"/>
              </a:rPr>
              <a:t>1. Add more nuclei and realistic hyperfine tensors.</a:t>
            </a:r>
          </a:p>
          <a:p>
            <a:pPr marL="0" indent="0">
              <a:spcAft>
                <a:spcPts val="150"/>
              </a:spcAft>
              <a:buNone/>
            </a:pPr>
            <a:r>
              <a:rPr sz="640" b="0">
                <a:solidFill>
                  <a:srgbClr val="282837"/>
                </a:solidFill>
                <a:latin typeface="Aptos"/>
              </a:rPr>
              <a:t>2. Test non-Markovian and temperature-dependent noise.</a:t>
            </a:r>
          </a:p>
          <a:p>
            <a:pPr marL="0" indent="0">
              <a:spcAft>
                <a:spcPts val="150"/>
              </a:spcAft>
              <a:buNone/>
            </a:pPr>
            <a:r>
              <a:rPr sz="640" b="0">
                <a:solidFill>
                  <a:srgbClr val="282837"/>
                </a:solidFill>
                <a:latin typeface="Aptos"/>
              </a:rPr>
              <a:t>3. Run circuits on IBM hardware and compare with experimental constraints.</a:t>
            </a:r>
          </a:p>
        </p:txBody>
      </p:sp>
      <p:sp>
        <p:nvSpPr>
          <p:cNvPr id="56" name="AckCard"/>
          <p:cNvSpPr/>
          <p:nvPr/>
        </p:nvSpPr>
        <p:spPr>
          <a:xfrm>
            <a:off x="3474720" y="8845760"/>
            <a:ext cx="3017520" cy="90000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57" name="AckChip"/>
          <p:cNvSpPr/>
          <p:nvPr/>
        </p:nvSpPr>
        <p:spPr>
          <a:xfrm>
            <a:off x="3566160" y="8937200"/>
            <a:ext cx="2834640" cy="24688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58" name="AckHeading"/>
          <p:cNvSpPr txBox="1"/>
          <p:nvPr/>
        </p:nvSpPr>
        <p:spPr>
          <a:xfrm>
            <a:off x="3703320" y="8937200"/>
            <a:ext cx="2560320" cy="24688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sz="800" b="1">
                <a:solidFill>
                  <a:srgbClr val="282837"/>
                </a:solidFill>
                <a:latin typeface="Aptos"/>
              </a:rPr>
              <a:t>Acknowledgement</a:t>
            </a:r>
            <a:endParaRPr lang="en-US" sz="950" dirty="0"/>
          </a:p>
        </p:txBody>
      </p:sp>
      <p:sp>
        <p:nvSpPr>
          <p:cNvPr id="59" name="AckBody"/>
          <p:cNvSpPr txBox="1"/>
          <p:nvPr/>
        </p:nvSpPr>
        <p:spPr>
          <a:xfrm>
            <a:off x="3639312" y="9275528"/>
            <a:ext cx="2688336" cy="42451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sz="620" b="0">
                <a:solidFill>
                  <a:srgbClr val="282837"/>
                </a:solidFill>
                <a:latin typeface="Aptos"/>
              </a:rPr>
              <a:t>Thanks to VTU, the VTU Quantum Club and IBM Quantum for Qiskit Fall Fest 2026.</a:t>
            </a:r>
          </a:p>
          <a:p>
            <a:pPr marL="0" indent="0">
              <a:spcAft>
                <a:spcPts val="200"/>
              </a:spcAft>
              <a:buNone/>
            </a:pPr>
            <a:r>
              <a:rPr sz="620" b="1">
                <a:solidFill>
                  <a:srgbClr val="282837"/>
                </a:solidFill>
                <a:latin typeface="Aptos"/>
              </a:rPr>
              <a:t>Code &amp; dashboard: github.com/&lt;your-username&gt;/quantum-compass-lab</a:t>
            </a:r>
          </a:p>
        </p:txBody>
      </p:sp>
      <p:sp>
        <p:nvSpPr>
          <p:cNvPr id="60" name="RefsCard"/>
          <p:cNvSpPr/>
          <p:nvPr/>
        </p:nvSpPr>
        <p:spPr>
          <a:xfrm>
            <a:off x="3474720" y="9837200"/>
            <a:ext cx="3017520" cy="104416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61" name="RefsChip"/>
          <p:cNvSpPr/>
          <p:nvPr/>
        </p:nvSpPr>
        <p:spPr>
          <a:xfrm>
            <a:off x="3566160" y="9928640"/>
            <a:ext cx="2834640" cy="2468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62" name="RefsHeading"/>
          <p:cNvSpPr txBox="1"/>
          <p:nvPr/>
        </p:nvSpPr>
        <p:spPr>
          <a:xfrm>
            <a:off x="3703320" y="9928640"/>
            <a:ext cx="2560320" cy="24688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sz="800" b="1">
                <a:solidFill>
                  <a:srgbClr val="282837"/>
                </a:solidFill>
                <a:latin typeface="Aptos"/>
              </a:rPr>
              <a:t>References</a:t>
            </a:r>
            <a:endParaRPr lang="en-US" sz="950" dirty="0"/>
          </a:p>
        </p:txBody>
      </p:sp>
      <p:sp>
        <p:nvSpPr>
          <p:cNvPr id="63" name="RefsBody"/>
          <p:cNvSpPr txBox="1"/>
          <p:nvPr/>
        </p:nvSpPr>
        <p:spPr>
          <a:xfrm>
            <a:off x="3639312" y="10266968"/>
            <a:ext cx="2688336" cy="56867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marL="0" indent="0">
              <a:spcAft>
                <a:spcPts val="60"/>
              </a:spcAft>
              <a:buNone/>
            </a:pPr>
            <a:r>
              <a:rPr sz="550" b="0">
                <a:solidFill>
                  <a:srgbClr val="282837"/>
                </a:solidFill>
                <a:latin typeface="Aptos"/>
              </a:rPr>
              <a:t>1. Schulten et al., Z. Phys. Chem. 111, 1–5 (1978).</a:t>
            </a:r>
          </a:p>
          <a:p>
            <a:pPr marL="0" indent="0">
              <a:spcAft>
                <a:spcPts val="60"/>
              </a:spcAft>
              <a:buNone/>
            </a:pPr>
            <a:r>
              <a:rPr sz="550" b="0">
                <a:solidFill>
                  <a:srgbClr val="282837"/>
                </a:solidFill>
                <a:latin typeface="Aptos"/>
              </a:rPr>
              <a:t>2. Ritz et al., Biophys. J. 78, 707–718 (2000).</a:t>
            </a:r>
          </a:p>
          <a:p>
            <a:pPr marL="0" indent="0">
              <a:spcAft>
                <a:spcPts val="60"/>
              </a:spcAft>
              <a:buNone/>
            </a:pPr>
            <a:r>
              <a:rPr sz="550" b="0">
                <a:solidFill>
                  <a:srgbClr val="282837"/>
                </a:solidFill>
                <a:latin typeface="Aptos"/>
              </a:rPr>
              <a:t>3. Hore &amp; Mouritsen, Annu. Rev. Biophys. 45, 299–344 (2016).</a:t>
            </a:r>
          </a:p>
          <a:p>
            <a:pPr marL="0" indent="0">
              <a:spcAft>
                <a:spcPts val="60"/>
              </a:spcAft>
              <a:buNone/>
            </a:pPr>
            <a:r>
              <a:rPr sz="550" b="0">
                <a:solidFill>
                  <a:srgbClr val="282837"/>
                </a:solidFill>
                <a:latin typeface="Aptos"/>
              </a:rPr>
              <a:t>4. Haberkorn, Mol. Phys. 32, 1491–1493 (1976).</a:t>
            </a:r>
          </a:p>
          <a:p>
            <a:pPr marL="0" indent="0">
              <a:spcAft>
                <a:spcPts val="60"/>
              </a:spcAft>
              <a:buNone/>
            </a:pPr>
            <a:r>
              <a:rPr sz="550" b="0">
                <a:solidFill>
                  <a:srgbClr val="282837"/>
                </a:solidFill>
                <a:latin typeface="Aptos"/>
              </a:rPr>
              <a:t>5. Qiskit contributors, Qiskit: An open-source framework for quantum computing.</a:t>
            </a:r>
          </a:p>
        </p:txBody>
      </p:sp>
      <p:sp>
        <p:nvSpPr>
          <p:cNvPr id="65" name="KeyTakeaway"/>
          <p:cNvSpPr txBox="1"/>
          <p:nvPr/>
        </p:nvSpPr>
        <p:spPr>
          <a:xfrm>
            <a:off x="502920" y="1665000"/>
            <a:ext cx="5852160" cy="20000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marL="0" indent="0">
              <a:spcAft>
                <a:spcPts val="150"/>
              </a:spcAft>
              <a:buNone/>
            </a:pPr>
            <a:r>
              <a:rPr sz="700" b="1">
                <a:solidFill>
                  <a:srgbClr val="912B68"/>
                </a:solidFill>
                <a:latin typeface="Aptos"/>
              </a:rPr>
              <a:t>KEY TAKEAWAY  |  Field direction shifts chemical yield by 13.3%, and the signal fades once decoherence exceeds about 2.7 µs⁻¹ (T₂ &lt; 0.36 µs).</a:t>
            </a:r>
          </a:p>
        </p:txBody>
      </p:sp>
      <p:sp>
        <p:nvSpPr>
          <p:cNvPr id="210" name="NoiseFrame"/>
          <p:cNvSpPr/>
          <p:nvPr/>
        </p:nvSpPr>
        <p:spPr>
          <a:xfrm>
            <a:off x="530352" y="9599088"/>
            <a:ext cx="2688336" cy="1000000"/>
          </a:xfrm>
          <a:prstGeom prst="roundRect">
            <a:avLst>
              <a:gd name="adj" fmla="val 329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09" name="NoiseText"/>
          <p:cNvSpPr txBox="1"/>
          <p:nvPr/>
        </p:nvSpPr>
        <p:spPr>
          <a:xfrm>
            <a:off x="530352" y="9599088"/>
            <a:ext cx="2688336" cy="100000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sz="580" b="1">
                <a:solidFill>
                  <a:srgbClr val="6A4C93"/>
                </a:solidFill>
                <a:latin typeface="Aptos"/>
              </a:rPr>
              <a:t>NOISE TOLERANCE (decoherence sweep)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sz="1100" b="1">
                <a:solidFill>
                  <a:srgbClr val="912B68"/>
                </a:solidFill>
                <a:latin typeface="Aptos"/>
              </a:rPr>
              <a:t>γ ≤ 2.74 µs⁻¹</a:t>
            </a:r>
          </a:p>
          <a:p>
            <a:pPr marL="0" indent="0" algn="ctr">
              <a:spcAft>
                <a:spcPts val="300"/>
              </a:spcAft>
              <a:buNone/>
            </a:pPr>
            <a:r>
              <a:rPr sz="580" b="0">
                <a:solidFill>
                  <a:srgbClr val="282837"/>
                </a:solidFill>
                <a:latin typeface="Aptos"/>
              </a:rPr>
              <a:t>T₂ ≥ 0.36 µs keeps contrast C ≥ 1%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sz="1100" b="1">
                <a:solidFill>
                  <a:srgbClr val="912B68"/>
                </a:solidFill>
                <a:latin typeface="Aptos"/>
              </a:rPr>
              <a:t>γ ≤ 6.67 µs⁻¹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sz="580" b="0">
                <a:solidFill>
                  <a:srgbClr val="282837"/>
                </a:solidFill>
                <a:latin typeface="Aptos"/>
              </a:rPr>
              <a:t>T₂ ≥ 0.15 µs keeps ΔΦS ≥ 0.001</a:t>
            </a:r>
          </a:p>
        </p:txBody>
      </p:sp>
      <p:sp>
        <p:nvSpPr>
          <p:cNvPr id="230" name="NoiseCaption"/>
          <p:cNvSpPr txBox="1"/>
          <p:nvPr/>
        </p:nvSpPr>
        <p:spPr>
          <a:xfrm>
            <a:off x="530352" y="10614088"/>
            <a:ext cx="2688336" cy="20000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marL="0" indent="0">
              <a:spcAft>
                <a:spcPts val="150"/>
              </a:spcAft>
              <a:buNone/>
            </a:pPr>
            <a:r>
              <a:rPr sz="580" b="0">
                <a:solidFill>
                  <a:srgbClr val="282837"/>
                </a:solidFill>
                <a:latin typeface="Aptos"/>
              </a:rPr>
              <a:t>Decoherence rate γ = 1/T₂ swept from 0.05 to 31.6 µs⁻¹ (T₂ = 20 to 0.03 µs); thresholds from the simulation.</a:t>
            </a:r>
          </a:p>
        </p:txBody>
      </p:sp>
      <p:pic>
        <p:nvPicPr>
          <p:cNvPr id="66" name="AngularSweepPlot" descr="Singlet yield versus magnetic field angle with isotropic contro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352" y="7632088"/>
            <a:ext cx="2652336" cy="160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 VTU">
  <a:themeElements>
    <a:clrScheme name="Qiskit Fall Fest VTU">
      <a:dk1>
        <a:srgbClr val="2A1A38"/>
      </a:dk1>
      <a:lt1>
        <a:srgbClr val="FFFFFF"/>
      </a:lt1>
      <a:dk2>
        <a:srgbClr val="3C264C"/>
      </a:dk2>
      <a:lt2>
        <a:srgbClr val="FEF9F3"/>
      </a:lt2>
      <a:accent1>
        <a:srgbClr val="E85291"/>
      </a:accent1>
      <a:accent2>
        <a:srgbClr val="F5A4C4"/>
      </a:accent2>
      <a:accent3>
        <a:srgbClr val="B9A6DD"/>
      </a:accent3>
      <a:accent4>
        <a:srgbClr val="F4C84F"/>
      </a:accent4>
      <a:accent5>
        <a:srgbClr val="DDD2FA"/>
      </a:accent5>
      <a:accent6>
        <a:srgbClr val="7A5CB8"/>
      </a:accent6>
      <a:hlink>
        <a:srgbClr val="E85291"/>
      </a:hlink>
      <a:folHlink>
        <a:srgbClr val="7A5CB8"/>
      </a:folHlink>
    </a:clrScheme>
    <a:fontScheme name="Qiskit Fall Fest VT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Qiskit Fall Fest VTU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Qiskit Fall Fest 2026 – VTU Poster</dc:title>
  <dc:subject>PptxGenJS Presentation</dc:subject>
  <dc:creator>PptxGenJS</dc:creator>
  <cp:lastModifiedBy>User Onlinedata</cp:lastModifiedBy>
  <cp:revision>2</cp:revision>
  <dcterms:created xsi:type="dcterms:W3CDTF">2026-10-11T07:41:04Z</dcterms:created>
  <dcterms:modified xsi:type="dcterms:W3CDTF">2026-10-11T07:47:31Z</dcterms:modified>
</cp:coreProperties>
</file>